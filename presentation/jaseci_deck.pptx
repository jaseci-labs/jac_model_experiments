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920240"/>
            <a:ext cx="10332720" cy="20116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4000"/>
              </a:lnSpc>
              <a:spcAft>
                <a:spcPts val="800"/>
              </a:spcAft>
            </a:pPr>
            <a:r>
              <a:rPr sz="4000" b="1" i="0">
                <a:solidFill>
                  <a:srgbClr val="1A1A1A"/>
                </a:solidFill>
                <a:latin typeface="Calibri"/>
              </a:rPr>
              <a:t>Teaching a model to write Jac</a:t>
            </a:r>
          </a:p>
          <a:p>
            <a:pPr algn="ctr">
              <a:lnSpc>
                <a:spcPct val="104000"/>
              </a:lnSpc>
              <a:spcAft>
                <a:spcPts val="1800"/>
              </a:spcAft>
            </a:pPr>
            <a:r>
              <a:rPr sz="2000" b="0" i="0">
                <a:solidFill>
                  <a:srgbClr val="737373"/>
                </a:solidFill>
                <a:latin typeface="Calibri"/>
              </a:rPr>
              <a:t>Synthetic Python → Jac data and a small finetune probe</a:t>
            </a:r>
          </a:p>
          <a:p>
            <a:pPr algn="ctr">
              <a:lnSpc>
                <a:spcPct val="104000"/>
              </a:lnSpc>
              <a:spcAft>
                <a:spcPts val="400"/>
              </a:spcAft>
            </a:pPr>
            <a:r>
              <a:rPr sz="1800" b="0" i="0">
                <a:solidFill>
                  <a:srgbClr val="1A1A1A"/>
                </a:solidFill>
                <a:latin typeface="Calibri"/>
              </a:rPr>
              <a:t>Ayush Madhav Kumar</a:t>
            </a:r>
          </a:p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400" b="0" i="0">
                <a:solidFill>
                  <a:srgbClr val="737373"/>
                </a:solidFill>
                <a:latin typeface="Calibri"/>
              </a:rPr>
              <a:t>University of Michigan  •  Jaseci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852160"/>
            <a:ext cx="1106424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200" b="0" i="0">
                <a:solidFill>
                  <a:srgbClr val="737373"/>
                </a:solidFill>
                <a:latin typeface="Calibri"/>
              </a:rPr>
              <a:t>Synthetic Python → Jac   •   MLX LoRA on Apple Silicon   •   Qwen3 Coder &amp; Gemma 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2600" b="1" i="0">
                <a:solidFill>
                  <a:srgbClr val="1A1A1A"/>
                </a:solidFill>
                <a:latin typeface="Calibri"/>
              </a:rPr>
              <a:t>No real Jac corpus exists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13716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4000"/>
              </a:lnSpc>
              <a:spcAft>
                <a:spcPts val="700"/>
              </a:spcAft>
            </a:pPr>
            <a:r>
              <a:rPr sz="1500" b="0" i="0">
                <a:solidFill>
                  <a:srgbClr val="1A1A1A"/>
                </a:solidFill>
                <a:latin typeface="Calibri"/>
              </a:rPr>
              <a:t>•  Models trained on Python have weak priors on Jac's </a:t>
            </a:r>
            <a:r>
              <a:rPr sz="1500" b="1" i="0">
                <a:solidFill>
                  <a:srgbClr val="1A1A1A"/>
                </a:solidFill>
                <a:latin typeface="Calibri"/>
              </a:rPr>
              <a:t>data spatial idioms</a:t>
            </a:r>
            <a:r>
              <a:rPr sz="1500" b="0" i="0">
                <a:solidFill>
                  <a:srgbClr val="1A1A1A"/>
                </a:solidFill>
                <a:latin typeface="Calibri"/>
              </a:rPr>
              <a:t>: walkers, nodes and edges instead of functions and classes.</a:t>
            </a:r>
          </a:p>
          <a:p>
            <a:pPr algn="l">
              <a:lnSpc>
                <a:spcPct val="104000"/>
              </a:lnSpc>
              <a:spcAft>
                <a:spcPts val="700"/>
              </a:spcAft>
            </a:pPr>
            <a:r>
              <a:rPr sz="1500" b="0" i="0">
                <a:solidFill>
                  <a:srgbClr val="1A1A1A"/>
                </a:solidFill>
                <a:latin typeface="Calibri"/>
              </a:rPr>
              <a:t>•  Stock 30B and 26B Gemma 4 and Qwen3 Coder produce </a:t>
            </a:r>
            <a:r>
              <a:rPr sz="1500" b="1" i="0">
                <a:solidFill>
                  <a:srgbClr val="1A1A1A"/>
                </a:solidFill>
                <a:latin typeface="Calibri"/>
              </a:rPr>
              <a:t>0% runnable Jac</a:t>
            </a:r>
            <a:r>
              <a:rPr sz="1500" b="0" i="0">
                <a:solidFill>
                  <a:srgbClr val="1A1A1A"/>
                </a:solidFill>
                <a:latin typeface="Calibri"/>
              </a:rPr>
              <a:t>. They have never seen the language.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651760"/>
            <a:ext cx="5486400" cy="3291840"/>
          </a:xfrm>
          <a:prstGeom prst="rect">
            <a:avLst/>
          </a:prstGeom>
          <a:solidFill>
            <a:srgbClr val="F4F4F4"/>
          </a:solidFill>
          <a:ln w="9525">
            <a:solidFill>
              <a:srgbClr val="C8C8C8"/>
            </a:solidFill>
          </a:ln>
        </p:spPr>
        <p:txBody>
          <a:bodyPr wrap="none" anchor="t" lIns="50800" rIns="50800" tIns="25400" bIns="2540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</a:rPr>
              <a:t># a graph walk written as a loop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</a:rPr>
              <a:t>def traverse(graph, start):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</a:rPr>
              <a:t>    stack = [start]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</a:rPr>
              <a:t>    seen = set()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</a:rPr>
              <a:t>    while stack: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</a:rPr>
              <a:t>        n = stack.pop()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</a:rPr>
              <a:t>        seen.add(n)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</a:rPr>
              <a:t>        stack += graph[n]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</a:rPr>
              <a:t>    return seen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2651760"/>
            <a:ext cx="5303520" cy="3291840"/>
          </a:xfrm>
          <a:prstGeom prst="rect">
            <a:avLst/>
          </a:prstGeom>
          <a:solidFill>
            <a:srgbClr val="F4F4F4"/>
          </a:solidFill>
          <a:ln w="9525">
            <a:solidFill>
              <a:srgbClr val="C8C8C8"/>
            </a:solidFill>
          </a:ln>
        </p:spPr>
        <p:txBody>
          <a:bodyPr wrap="none" anchor="t" lIns="50800" rIns="50800" tIns="25400" bIns="2540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</a:rPr>
              <a:t># the graph walks itself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</a:rPr>
              <a:t>walker Traverse 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</a:rPr>
              <a:t>    can step with Item entry 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</a:rPr>
              <a:t>        here.seen = True;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</a:rPr>
              <a:t>        visit [--&gt;];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</a:rPr>
              <a:t>    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</a:rPr>
              <a:t>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</a:rPr>
              <a:t>node Item { has seen: bool = False; }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2600" b="1" i="0">
                <a:solidFill>
                  <a:srgbClr val="1A1A1A"/>
                </a:solidFill>
                <a:latin typeface="Calibri"/>
              </a:rPr>
              <a:t>Three anchors for 100% synthetic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6400800" cy="34747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4000"/>
              </a:lnSpc>
              <a:spcAft>
                <a:spcPts val="800"/>
              </a:spcAft>
            </a:pPr>
            <a:r>
              <a:rPr sz="1500" b="0" i="0">
                <a:solidFill>
                  <a:srgbClr val="1A1A1A"/>
                </a:solidFill>
                <a:latin typeface="Calibri"/>
              </a:rPr>
              <a:t>1.  </a:t>
            </a:r>
            <a:r>
              <a:rPr sz="1500" b="1" i="0">
                <a:solidFill>
                  <a:srgbClr val="1A1A1A"/>
                </a:solidFill>
                <a:latin typeface="Calibri"/>
              </a:rPr>
              <a:t>Grammar</a:t>
            </a:r>
            <a:r>
              <a:rPr sz="1500" b="0" i="0">
                <a:solidFill>
                  <a:srgbClr val="1A1A1A"/>
                </a:solidFill>
                <a:latin typeface="Calibri"/>
              </a:rPr>
              <a:t> is the distribution anchor. The Jac grammar defines the space of valid programs, and every sample is shaped to fit it.</a:t>
            </a:r>
          </a:p>
          <a:p>
            <a:pPr algn="l">
              <a:lnSpc>
                <a:spcPct val="104000"/>
              </a:lnSpc>
              <a:spcAft>
                <a:spcPts val="800"/>
              </a:spcAft>
            </a:pPr>
            <a:r>
              <a:rPr sz="1500" b="0" i="0">
                <a:solidFill>
                  <a:srgbClr val="1A1A1A"/>
                </a:solidFill>
                <a:latin typeface="Calibri"/>
              </a:rPr>
              <a:t>2.  </a:t>
            </a:r>
            <a:r>
              <a:rPr sz="1500" b="1" i="0">
                <a:solidFill>
                  <a:srgbClr val="1A1A1A"/>
                </a:solidFill>
                <a:latin typeface="Calibri"/>
              </a:rPr>
              <a:t>Compiler and tests</a:t>
            </a:r>
            <a:r>
              <a:rPr sz="1500" b="0" i="0">
                <a:solidFill>
                  <a:srgbClr val="1A1A1A"/>
                </a:solidFill>
                <a:latin typeface="Calibri"/>
              </a:rPr>
              <a:t> are a free oracle. Labelling is unlimited and costs nothing: reject anything that does not compile, run, or match its tests.</a:t>
            </a:r>
          </a:p>
          <a:p>
            <a:pPr algn="l">
              <a:lnSpc>
                <a:spcPct val="104000"/>
              </a:lnSpc>
              <a:spcAft>
                <a:spcPts val="800"/>
              </a:spcAft>
            </a:pPr>
            <a:r>
              <a:rPr sz="1500" b="0" i="0">
                <a:solidFill>
                  <a:srgbClr val="1A1A1A"/>
                </a:solidFill>
                <a:latin typeface="Calibri"/>
              </a:rPr>
              <a:t>3.  </a:t>
            </a:r>
            <a:r>
              <a:rPr sz="1500" b="1" i="0">
                <a:solidFill>
                  <a:srgbClr val="1A1A1A"/>
                </a:solidFill>
                <a:latin typeface="Calibri"/>
              </a:rPr>
              <a:t>Python</a:t>
            </a:r>
            <a:r>
              <a:rPr sz="1500" b="0" i="0">
                <a:solidFill>
                  <a:srgbClr val="1A1A1A"/>
                </a:solidFill>
                <a:latin typeface="Calibri"/>
              </a:rPr>
              <a:t> is the proxy distribution. Translate validated Python into Jac to borrow a large, correct source.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754880"/>
            <a:ext cx="6400800" cy="12801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1300" b="0" i="0">
                <a:solidFill>
                  <a:srgbClr val="1A1A1A"/>
                </a:solidFill>
                <a:latin typeface="Calibri"/>
              </a:rPr>
              <a:t>The quality gate is jac run: compile it, run it, and the output has to match. Not the type checker, which rejects plenty of code that runs.</a:t>
            </a:r>
          </a:p>
        </p:txBody>
      </p:sp>
      <p:pic>
        <p:nvPicPr>
          <p:cNvPr id="5" name="Picture 4" descr="diagram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554480"/>
            <a:ext cx="4023360" cy="298586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0" y="4709160"/>
            <a:ext cx="420624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200" b="0" i="0">
                <a:solidFill>
                  <a:srgbClr val="737373"/>
                </a:solidFill>
                <a:latin typeface="Calibri"/>
              </a:rPr>
              <a:t>the multi PLT method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2600" b="1" i="0">
                <a:solidFill>
                  <a:srgbClr val="1A1A1A"/>
                </a:solidFill>
                <a:latin typeface="Calibri"/>
              </a:rPr>
              <a:t>Data tiers, part 1: the three 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6766560" cy="32918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4000"/>
              </a:lnSpc>
              <a:spcAft>
                <a:spcPts val="800"/>
              </a:spcAft>
            </a:pPr>
            <a:r>
              <a:rPr sz="1500" b="0" i="0">
                <a:solidFill>
                  <a:srgbClr val="1A1A1A"/>
                </a:solidFill>
                <a:latin typeface="Calibri"/>
              </a:rPr>
              <a:t>1.  </a:t>
            </a:r>
            <a:r>
              <a:rPr sz="1500" b="1" i="0">
                <a:solidFill>
                  <a:srgbClr val="1A1A1A"/>
                </a:solidFill>
                <a:latin typeface="Calibri"/>
              </a:rPr>
              <a:t>Idiomatic core</a:t>
            </a:r>
            <a:r>
              <a:rPr sz="1500" b="0" i="0">
                <a:solidFill>
                  <a:srgbClr val="1A1A1A"/>
                </a:solidFill>
                <a:latin typeface="Calibri"/>
              </a:rPr>
              <a:t> [147]. Jac written by hand or with an agent (Claude Code plus the Jac MCP): walkers, nodes, edges. </a:t>
            </a:r>
            <a:r>
              <a:rPr sz="1500" b="0" i="1">
                <a:solidFill>
                  <a:srgbClr val="1A1A1A"/>
                </a:solidFill>
                <a:latin typeface="Calibri"/>
              </a:rPr>
              <a:t>31 of these are graph shaped.</a:t>
            </a:r>
          </a:p>
          <a:p>
            <a:pPr algn="l">
              <a:lnSpc>
                <a:spcPct val="104000"/>
              </a:lnSpc>
              <a:spcAft>
                <a:spcPts val="800"/>
              </a:spcAft>
            </a:pPr>
            <a:r>
              <a:rPr sz="1500" b="0" i="0">
                <a:solidFill>
                  <a:srgbClr val="1A1A1A"/>
                </a:solidFill>
                <a:latin typeface="Calibri"/>
              </a:rPr>
              <a:t>2.  </a:t>
            </a:r>
            <a:r>
              <a:rPr sz="1500" b="1" i="0">
                <a:solidFill>
                  <a:srgbClr val="1A1A1A"/>
                </a:solidFill>
                <a:latin typeface="Calibri"/>
              </a:rPr>
              <a:t>Transpile volume</a:t>
            </a:r>
            <a:r>
              <a:rPr sz="1500" b="0" i="0">
                <a:solidFill>
                  <a:srgbClr val="1A1A1A"/>
                </a:solidFill>
                <a:latin typeface="Calibri"/>
              </a:rPr>
              <a:t> [1500]. Python auto transpiled with jac py2jac and gated on behavior. Correct, but </a:t>
            </a:r>
            <a:r>
              <a:rPr sz="1500" b="0" i="1">
                <a:solidFill>
                  <a:srgbClr val="1A1A1A"/>
                </a:solidFill>
                <a:latin typeface="Calibri"/>
              </a:rPr>
              <a:t>Python shaped</a:t>
            </a:r>
            <a:r>
              <a:rPr sz="1500" b="0" i="0">
                <a:solidFill>
                  <a:srgbClr val="1A1A1A"/>
                </a:solidFill>
                <a:latin typeface="Calibri"/>
              </a:rPr>
              <a:t>. This is the cheap volume.</a:t>
            </a:r>
          </a:p>
          <a:p>
            <a:pPr algn="l">
              <a:lnSpc>
                <a:spcPct val="104000"/>
              </a:lnSpc>
              <a:spcAft>
                <a:spcPts val="800"/>
              </a:spcAft>
            </a:pPr>
            <a:r>
              <a:rPr sz="1500" b="0" i="0">
                <a:solidFill>
                  <a:srgbClr val="1A1A1A"/>
                </a:solidFill>
                <a:latin typeface="Calibri"/>
              </a:rPr>
              <a:t>3.  </a:t>
            </a:r>
            <a:r>
              <a:rPr sz="1500" b="1" i="0">
                <a:solidFill>
                  <a:srgbClr val="1A1A1A"/>
                </a:solidFill>
                <a:latin typeface="Calibri"/>
              </a:rPr>
              <a:t>DPO pairs</a:t>
            </a:r>
            <a:r>
              <a:rPr sz="1500" b="0" i="0">
                <a:solidFill>
                  <a:srgbClr val="1A1A1A"/>
                </a:solidFill>
                <a:latin typeface="Calibri"/>
              </a:rPr>
              <a:t> [147]. chosen is idiomatic, rejected is the transpile. This teaches the model </a:t>
            </a:r>
            <a:r>
              <a:rPr sz="1500" b="0" i="1">
                <a:solidFill>
                  <a:srgbClr val="1A1A1A"/>
                </a:solidFill>
                <a:latin typeface="Calibri"/>
              </a:rPr>
              <a:t>what is right versus what is wrong</a:t>
            </a:r>
            <a:r>
              <a:rPr sz="1500" b="0" i="0">
                <a:solidFill>
                  <a:srgbClr val="1A1A1A"/>
                </a:solidFill>
                <a:latin typeface="Calibri"/>
              </a:rPr>
              <a:t>.</a:t>
            </a:r>
          </a:p>
        </p:txBody>
      </p:sp>
      <p:pic>
        <p:nvPicPr>
          <p:cNvPr id="4" name="Picture 3" descr="diagram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097280"/>
            <a:ext cx="3840480" cy="175625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98079" y="3017520"/>
            <a:ext cx="402336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00" b="0" i="0">
                <a:solidFill>
                  <a:srgbClr val="737373"/>
                </a:solidFill>
                <a:latin typeface="Calibri"/>
              </a:rPr>
              <a:t>a DPO pair is one task with two answers (chosen ≻ rejected)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126480"/>
            <a:ext cx="1106424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1" i="0">
                <a:solidFill>
                  <a:srgbClr val="1A1A1A"/>
                </a:solidFill>
                <a:latin typeface="Calibri"/>
              </a:rPr>
              <a:t>1647</a:t>
            </a:r>
            <a:r>
              <a:rPr sz="1300" b="0" i="0">
                <a:solidFill>
                  <a:srgbClr val="1A1A1A"/>
                </a:solidFill>
                <a:latin typeface="Calibri"/>
              </a:rPr>
              <a:t> SFT examples (147 idiom, 1500 transpile)   •   </a:t>
            </a:r>
            <a:r>
              <a:rPr sz="1300" b="1" i="0">
                <a:solidFill>
                  <a:srgbClr val="1A1A1A"/>
                </a:solidFill>
                <a:latin typeface="Calibri"/>
              </a:rPr>
              <a:t>147</a:t>
            </a:r>
            <a:r>
              <a:rPr sz="1300" b="0" i="0">
                <a:solidFill>
                  <a:srgbClr val="1A1A1A"/>
                </a:solidFill>
                <a:latin typeface="Calibri"/>
              </a:rPr>
              <a:t> DPO pairs   •   gate is jac run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2600" b="1" i="0">
                <a:solidFill>
                  <a:srgbClr val="1A1A1A"/>
                </a:solidFill>
                <a:latin typeface="Calibri"/>
              </a:rPr>
              <a:t>Data tiers, part 2: how the tiers are built</a:t>
            </a:r>
          </a:p>
        </p:txBody>
      </p:sp>
      <p:pic>
        <p:nvPicPr>
          <p:cNvPr id="3" name="Picture 2" descr="diagram-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567" y="2194560"/>
            <a:ext cx="11338560" cy="265695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212080"/>
            <a:ext cx="1106424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Calibri"/>
              </a:rPr>
              <a:t>jac run gated   •   manifest 1:3 idiom:transpile   •   holdout decontaminated (disjoint offsets, 14 token shingles)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2600" b="1" i="0">
                <a:solidFill>
                  <a:srgbClr val="1A1A1A"/>
                </a:solidFill>
                <a:latin typeface="Calibri"/>
              </a:rPr>
              <a:t>The data, tier by tier: real examples (1 of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548640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400" b="1" i="0">
                <a:solidFill>
                  <a:srgbClr val="1A1A1A"/>
                </a:solidFill>
                <a:latin typeface="Calibri"/>
              </a:rPr>
              <a:t>Tier 1  •  Idiomatic core</a:t>
            </a:r>
          </a:p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100" b="0" i="0">
                <a:solidFill>
                  <a:srgbClr val="737373"/>
                </a:solidFill>
                <a:latin typeface="Calibri"/>
              </a:rPr>
              <a:t>task: product_of_tree, multiply values over a tree (walker / node / edge)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83080"/>
            <a:ext cx="5486400" cy="3657600"/>
          </a:xfrm>
          <a:prstGeom prst="rect">
            <a:avLst/>
          </a:prstGeom>
          <a:solidFill>
            <a:srgbClr val="F4F4F4"/>
          </a:solidFill>
          <a:ln w="9525">
            <a:solidFill>
              <a:srgbClr val="C8C8C8"/>
            </a:solidFill>
          </a:ln>
        </p:spPr>
        <p:txBody>
          <a:bodyPr wrap="none" anchor="t" lIns="50800" rIns="50800" tIns="25400" bIns="2540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>
                <a:solidFill>
                  <a:srgbClr val="1A1A1A"/>
                </a:solidFill>
                <a:latin typeface="Consolas"/>
              </a:rPr>
              <a:t>node TNode { has val: int; 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>
                <a:solidFill>
                  <a:srgbClr val="1A1A1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>
                <a:solidFill>
                  <a:srgbClr val="1A1A1A"/>
                </a:solidFill>
                <a:latin typeface="Consolas"/>
              </a:rPr>
              <a:t>walker Product 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>
                <a:solidFill>
                  <a:srgbClr val="1A1A1A"/>
                </a:solidFill>
                <a:latin typeface="Consolas"/>
              </a:rPr>
              <a:t>    has result: int = 1;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>
                <a:solidFill>
                  <a:srgbClr val="1A1A1A"/>
                </a:solidFill>
                <a:latin typeface="Consolas"/>
              </a:rPr>
              <a:t>    can mul with TNode entry 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>
                <a:solidFill>
                  <a:srgbClr val="1A1A1A"/>
                </a:solidFill>
                <a:latin typeface="Consolas"/>
              </a:rPr>
              <a:t>        self.result *= here.val;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>
                <a:solidFill>
                  <a:srgbClr val="1A1A1A"/>
                </a:solidFill>
                <a:latin typeface="Consolas"/>
              </a:rPr>
              <a:t>        visit [--&gt;];   # the walk IS the program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>
                <a:solidFill>
                  <a:srgbClr val="1A1A1A"/>
                </a:solidFill>
                <a:latin typeface="Consolas"/>
              </a:rPr>
              <a:t>    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>
                <a:solidFill>
                  <a:srgbClr val="1A1A1A"/>
                </a:solidFill>
                <a:latin typeface="Consolas"/>
              </a:rPr>
              <a:t>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>
                <a:solidFill>
                  <a:srgbClr val="1A1A1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>
                <a:solidFill>
                  <a:srgbClr val="1A1A1A"/>
                </a:solidFill>
                <a:latin typeface="Consolas"/>
              </a:rPr>
              <a:t>with entry 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>
                <a:solidFill>
                  <a:srgbClr val="1A1A1A"/>
                </a:solidFill>
                <a:latin typeface="Consolas"/>
              </a:rPr>
              <a:t>    a = TNode(val=2); b = TNode(val=3);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>
                <a:solidFill>
                  <a:srgbClr val="1A1A1A"/>
                </a:solidFill>
                <a:latin typeface="Consolas"/>
              </a:rPr>
              <a:t>    root ++&gt; a;  a ++&gt; b;  a ++&gt; c;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>
                <a:solidFill>
                  <a:srgbClr val="1A1A1A"/>
                </a:solidFill>
                <a:latin typeface="Consolas"/>
              </a:rPr>
              <a:t>    print((a spawn Product()).result);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>
                <a:solidFill>
                  <a:srgbClr val="1A1A1A"/>
                </a:solidFill>
                <a:latin typeface="Consolas"/>
              </a:rP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051560"/>
            <a:ext cx="530352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400" b="1" i="0">
                <a:solidFill>
                  <a:srgbClr val="1A1A1A"/>
                </a:solidFill>
                <a:latin typeface="Calibri"/>
              </a:rPr>
              <a:t>Tier 2  •  Transpile volume</a:t>
            </a:r>
          </a:p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100" b="0" i="0">
                <a:solidFill>
                  <a:srgbClr val="737373"/>
                </a:solidFill>
                <a:latin typeface="Calibri"/>
              </a:rPr>
              <a:t>task: is_even, mechanical, Python shaped (jac py2jac, gated)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783080"/>
            <a:ext cx="5303520" cy="2194560"/>
          </a:xfrm>
          <a:prstGeom prst="rect">
            <a:avLst/>
          </a:prstGeom>
          <a:solidFill>
            <a:srgbClr val="F4F4F4"/>
          </a:solidFill>
          <a:ln w="9525">
            <a:solidFill>
              <a:srgbClr val="C8C8C8"/>
            </a:solidFill>
          </a:ln>
        </p:spPr>
        <p:txBody>
          <a:bodyPr wrap="none" anchor="t" lIns="50800" rIns="50800" tIns="25400" bIns="2540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>
                <a:solidFill>
                  <a:srgbClr val="1A1A1A"/>
                </a:solidFill>
                <a:latin typeface="Consolas"/>
              </a:rPr>
              <a:t>def is_even(num: Any) -&gt; object 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>
                <a:solidFill>
                  <a:srgbClr val="1A1A1A"/>
                </a:solidFill>
                <a:latin typeface="Consolas"/>
              </a:rPr>
              <a:t>    return ((num % 2) == 0);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>
                <a:solidFill>
                  <a:srgbClr val="1A1A1A"/>
                </a:solidFill>
                <a:latin typeface="Consolas"/>
              </a:rPr>
              <a:t>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>
                <a:solidFill>
                  <a:srgbClr val="1A1A1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>
                <a:solidFill>
                  <a:srgbClr val="1A1A1A"/>
                </a:solidFill>
                <a:latin typeface="Consolas"/>
              </a:rPr>
              <a:t>with entry 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>
                <a:solidFill>
                  <a:srgbClr val="1A1A1A"/>
                </a:solidFill>
                <a:latin typeface="Consolas"/>
              </a:rPr>
              <a:t>    print(is_even(5));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>
                <a:solidFill>
                  <a:srgbClr val="1A1A1A"/>
                </a:solidFill>
                <a:latin typeface="Consolas"/>
              </a:rPr>
              <a:t>    print(is_even(10));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>
                <a:solidFill>
                  <a:srgbClr val="1A1A1A"/>
                </a:solidFill>
                <a:latin typeface="Consolas"/>
              </a:rP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4206240"/>
            <a:ext cx="5303520" cy="1463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1200" b="0" i="0">
                <a:solidFill>
                  <a:srgbClr val="1A1A1A"/>
                </a:solidFill>
                <a:latin typeface="Calibri"/>
              </a:rPr>
              <a:t>Correct and runnable, but it is just Python with braces: Any and object types, no walker. The transpile gives cheap scale. The idiomatic core gives the shape.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2600" b="1" i="0">
                <a:solidFill>
                  <a:srgbClr val="1A1A1A"/>
                </a:solidFill>
                <a:latin typeface="Calibri"/>
              </a:rPr>
              <a:t>The data, tier by tier: a real DPO pair (2 of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200" b="0" i="0">
                <a:solidFill>
                  <a:srgbClr val="1A1A1A"/>
                </a:solidFill>
                <a:latin typeface="Calibri"/>
              </a:rPr>
              <a:t>task: count_children(graph, node), count a node's direct children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54864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1" i="0">
                <a:solidFill>
                  <a:srgbClr val="1A1A1A"/>
                </a:solidFill>
                <a:latin typeface="Calibri"/>
              </a:rPr>
              <a:t>chosen  (idiomatic, reward up)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65960"/>
            <a:ext cx="5486400" cy="2560320"/>
          </a:xfrm>
          <a:prstGeom prst="rect">
            <a:avLst/>
          </a:prstGeom>
          <a:solidFill>
            <a:srgbClr val="F4F4F4"/>
          </a:solidFill>
          <a:ln w="9525">
            <a:solidFill>
              <a:srgbClr val="C8C8C8"/>
            </a:solidFill>
          </a:ln>
        </p:spPr>
        <p:txBody>
          <a:bodyPr wrap="none" anchor="t" lIns="50800" rIns="50800" tIns="25400" bIns="2540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>
                <a:solidFill>
                  <a:srgbClr val="1A1A1A"/>
                </a:solidFill>
                <a:latin typeface="Consolas"/>
              </a:rPr>
              <a:t>node GNode { has name: str; 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>
                <a:solidFill>
                  <a:srgbClr val="1A1A1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>
                <a:solidFill>
                  <a:srgbClr val="1A1A1A"/>
                </a:solidFill>
                <a:latin typeface="Consolas"/>
              </a:rPr>
              <a:t>walker CountChildren 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>
                <a:solidFill>
                  <a:srgbClr val="1A1A1A"/>
                </a:solidFill>
                <a:latin typeface="Consolas"/>
              </a:rPr>
              <a:t>    has count: int = 0;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>
                <a:solidFill>
                  <a:srgbClr val="1A1A1A"/>
                </a:solidFill>
                <a:latin typeface="Consolas"/>
              </a:rPr>
              <a:t>    can chk with GNode entry 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>
                <a:solidFill>
                  <a:srgbClr val="1A1A1A"/>
                </a:solidFill>
                <a:latin typeface="Consolas"/>
              </a:rPr>
              <a:t>        self.count = len([--&gt;]);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>
                <a:solidFill>
                  <a:srgbClr val="1A1A1A"/>
                </a:solidFill>
                <a:latin typeface="Consolas"/>
              </a:rPr>
              <a:t>        disengage;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>
                <a:solidFill>
                  <a:srgbClr val="1A1A1A"/>
                </a:solidFill>
                <a:latin typeface="Consolas"/>
              </a:rPr>
              <a:t>    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>
                <a:solidFill>
                  <a:srgbClr val="1A1A1A"/>
                </a:solidFill>
                <a:latin typeface="Consolas"/>
              </a:rP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554480"/>
            <a:ext cx="530352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1" i="0">
                <a:solidFill>
                  <a:srgbClr val="1A1A1A"/>
                </a:solidFill>
                <a:latin typeface="Calibri"/>
              </a:rPr>
              <a:t>rejected  (transpile, Python shaped, reward down)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965960"/>
            <a:ext cx="5303520" cy="1828800"/>
          </a:xfrm>
          <a:prstGeom prst="rect">
            <a:avLst/>
          </a:prstGeom>
          <a:solidFill>
            <a:srgbClr val="F4F4F4"/>
          </a:solidFill>
          <a:ln w="9525">
            <a:solidFill>
              <a:srgbClr val="C8C8C8"/>
            </a:solidFill>
          </a:ln>
        </p:spPr>
        <p:txBody>
          <a:bodyPr wrap="none" anchor="t" lIns="50800" rIns="50800" tIns="25400" bIns="2540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>
                <a:solidFill>
                  <a:srgbClr val="1A1A1A"/>
                </a:solidFill>
                <a:latin typeface="Consolas"/>
              </a:rPr>
              <a:t>"""Return the number of direct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>
                <a:solidFill>
                  <a:srgbClr val="1A1A1A"/>
                </a:solidFill>
                <a:latin typeface="Consolas"/>
              </a:rPr>
              <a:t>   children of node."""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>
                <a:solidFill>
                  <a:srgbClr val="1A1A1A"/>
                </a:solidFill>
                <a:latin typeface="Consolas"/>
              </a:rPr>
              <a:t>def count_children(graph: dict,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>
                <a:solidFill>
                  <a:srgbClr val="1A1A1A"/>
                </a:solidFill>
                <a:latin typeface="Consolas"/>
              </a:rPr>
              <a:t>                   `node: str) -&gt; int 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>
                <a:solidFill>
                  <a:srgbClr val="1A1A1A"/>
                </a:solidFill>
                <a:latin typeface="Consolas"/>
              </a:rPr>
              <a:t>    return len(graph.get(`node, []));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>
                <a:solidFill>
                  <a:srgbClr val="1A1A1A"/>
                </a:solidFill>
                <a:latin typeface="Consolas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937760"/>
            <a:ext cx="11064240" cy="10972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4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Calibri"/>
              </a:rPr>
              <a:t>Same task, two correct answers. DPO trains chosen ≻ rejected, pushing generation off graph.get(...) and toward len([--&gt;]).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2600" b="1" i="0">
                <a:solidFill>
                  <a:srgbClr val="1A1A1A"/>
                </a:solidFill>
                <a:latin typeface="Calibri"/>
              </a:rPr>
              <a:t>What is SFT and DPO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5120640" cy="2743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4000"/>
              </a:lnSpc>
              <a:spcAft>
                <a:spcPts val="700"/>
              </a:spcAft>
            </a:pPr>
            <a:r>
              <a:rPr sz="1600" b="0" i="0">
                <a:solidFill>
                  <a:srgbClr val="1A1A1A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A1A1A"/>
                </a:solidFill>
                <a:latin typeface="Calibri"/>
              </a:rPr>
              <a:t>SFT</a:t>
            </a:r>
            <a:r>
              <a:rPr sz="1600" b="0" i="0">
                <a:solidFill>
                  <a:srgbClr val="1A1A1A"/>
                </a:solidFill>
                <a:latin typeface="Calibri"/>
              </a:rPr>
              <a:t> is supervised finetuning. Imitate gold outputs, which teaches the model to produce runnable Jac.</a:t>
            </a:r>
          </a:p>
          <a:p>
            <a:pPr algn="l">
              <a:lnSpc>
                <a:spcPct val="104000"/>
              </a:lnSpc>
              <a:spcAft>
                <a:spcPts val="700"/>
              </a:spcAft>
            </a:pPr>
            <a:r>
              <a:rPr sz="1600" b="0" i="0">
                <a:solidFill>
                  <a:srgbClr val="1A1A1A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A1A1A"/>
                </a:solidFill>
                <a:latin typeface="Calibri"/>
              </a:rPr>
              <a:t>DPO</a:t>
            </a:r>
            <a:r>
              <a:rPr sz="1600" b="0" i="0">
                <a:solidFill>
                  <a:srgbClr val="1A1A1A"/>
                </a:solidFill>
                <a:latin typeface="Calibri"/>
              </a:rPr>
              <a:t> is direct preference optimization. Learn from chosen ≻ rejected pairs, which sharpens the model toward idiom without a reward model.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389120"/>
            <a:ext cx="5120640" cy="914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Calibri"/>
              </a:rPr>
              <a:t>Here, SFT teaches it to run, and DPO pushes it from runs to idiomatic.</a:t>
            </a:r>
          </a:p>
        </p:txBody>
      </p:sp>
      <p:pic>
        <p:nvPicPr>
          <p:cNvPr id="5" name="Picture 4" descr="diagram-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599" y="2743200"/>
            <a:ext cx="5852160" cy="16459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2600" b="1" i="0">
                <a:solidFill>
                  <a:srgbClr val="1A1A1A"/>
                </a:solidFill>
                <a:latin typeface="Calibri"/>
              </a:rPr>
              <a:t>Function vs graph tasks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548640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600" b="1" i="0">
                <a:solidFill>
                  <a:srgbClr val="1A1A1A"/>
                </a:solidFill>
                <a:latin typeface="Calibri"/>
              </a:rPr>
              <a:t>Function task</a:t>
            </a:r>
          </a:p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00" b="0" i="0">
                <a:solidFill>
                  <a:srgbClr val="737373"/>
                </a:solidFill>
                <a:latin typeface="Calibri"/>
              </a:rPr>
              <a:t>standalone pure function → Jac def</a:t>
            </a:r>
          </a:p>
        </p:txBody>
      </p:sp>
      <p:pic>
        <p:nvPicPr>
          <p:cNvPr id="4" name="Picture 3" descr="diagram-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" y="1783080"/>
            <a:ext cx="3291840" cy="82031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2834640"/>
            <a:ext cx="5486400" cy="21945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4000"/>
              </a:lnSpc>
              <a:spcAft>
                <a:spcPts val="700"/>
              </a:spcAft>
            </a:pPr>
            <a:r>
              <a:rPr sz="1300" b="0" i="0">
                <a:solidFill>
                  <a:srgbClr val="1A1A1A"/>
                </a:solidFill>
                <a:latin typeface="Calibri"/>
              </a:rPr>
              <a:t>•  idiomatic ≈ transpile → </a:t>
            </a:r>
            <a:r>
              <a:rPr sz="1300" b="1" i="0">
                <a:solidFill>
                  <a:srgbClr val="1A1A1A"/>
                </a:solidFill>
                <a:latin typeface="Calibri"/>
              </a:rPr>
              <a:t>sim 0.97</a:t>
            </a:r>
          </a:p>
          <a:p>
            <a:pPr algn="l">
              <a:lnSpc>
                <a:spcPct val="104000"/>
              </a:lnSpc>
              <a:spcAft>
                <a:spcPts val="700"/>
              </a:spcAft>
            </a:pPr>
            <a:r>
              <a:rPr sz="1300" b="0" i="0">
                <a:solidFill>
                  <a:srgbClr val="1A1A1A"/>
                </a:solidFill>
                <a:latin typeface="Calibri"/>
              </a:rPr>
              <a:t>•  </a:t>
            </a:r>
            <a:r>
              <a:rPr sz="1300" b="1" i="0">
                <a:solidFill>
                  <a:srgbClr val="1A1A1A"/>
                </a:solidFill>
                <a:latin typeface="Calibri"/>
              </a:rPr>
              <a:t>no idiom headroom</a:t>
            </a:r>
            <a:r>
              <a:rPr sz="1300" b="0" i="0">
                <a:solidFill>
                  <a:srgbClr val="1A1A1A"/>
                </a:solidFill>
                <a:latin typeface="Calibri"/>
              </a:rPr>
              <a:t>: a pure function legitimately needs no walker</a:t>
            </a:r>
          </a:p>
          <a:p>
            <a:pPr algn="l">
              <a:lnSpc>
                <a:spcPct val="104000"/>
              </a:lnSpc>
              <a:spcAft>
                <a:spcPts val="700"/>
              </a:spcAft>
            </a:pPr>
            <a:r>
              <a:rPr sz="1300" b="0" i="0">
                <a:solidFill>
                  <a:srgbClr val="1A1A1A"/>
                </a:solidFill>
                <a:latin typeface="Calibri"/>
              </a:rPr>
              <a:t>•  oracle: recorded test cases (150 holdout)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097280"/>
            <a:ext cx="530352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600" b="1" i="0">
                <a:solidFill>
                  <a:srgbClr val="1A1A1A"/>
                </a:solidFill>
                <a:latin typeface="Calibri"/>
              </a:rPr>
              <a:t>Graph task</a:t>
            </a:r>
          </a:p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00" b="0" i="0">
                <a:solidFill>
                  <a:srgbClr val="737373"/>
                </a:solidFill>
                <a:latin typeface="Calibri"/>
              </a:rPr>
              <a:t>dict and stack traversal → nodes / edges / walker</a:t>
            </a:r>
          </a:p>
        </p:txBody>
      </p:sp>
      <p:pic>
        <p:nvPicPr>
          <p:cNvPr id="7" name="Picture 6" descr="diagram-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0" y="1783080"/>
            <a:ext cx="3474720" cy="84057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309360" y="2834640"/>
            <a:ext cx="5303520" cy="21945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4000"/>
              </a:lnSpc>
              <a:spcAft>
                <a:spcPts val="700"/>
              </a:spcAft>
            </a:pPr>
            <a:r>
              <a:rPr sz="1300" b="0" i="0">
                <a:solidFill>
                  <a:srgbClr val="1A1A1A"/>
                </a:solidFill>
                <a:latin typeface="Calibri"/>
              </a:rPr>
              <a:t>•  idiomatic </a:t>
            </a:r>
            <a:r>
              <a:rPr sz="1300" b="0" i="1">
                <a:solidFill>
                  <a:srgbClr val="1A1A1A"/>
                </a:solidFill>
                <a:latin typeface="Calibri"/>
              </a:rPr>
              <a:t>diverges</a:t>
            </a:r>
            <a:r>
              <a:rPr sz="1300" b="0" i="0">
                <a:solidFill>
                  <a:srgbClr val="1A1A1A"/>
                </a:solidFill>
                <a:latin typeface="Calibri"/>
              </a:rPr>
              <a:t> hard → </a:t>
            </a:r>
            <a:r>
              <a:rPr sz="1300" b="1" i="0">
                <a:solidFill>
                  <a:srgbClr val="1A1A1A"/>
                </a:solidFill>
                <a:latin typeface="Calibri"/>
              </a:rPr>
              <a:t>sim 0.26</a:t>
            </a:r>
            <a:r>
              <a:rPr sz="1300" b="0" i="0">
                <a:solidFill>
                  <a:srgbClr val="1A1A1A"/>
                </a:solidFill>
                <a:latin typeface="Calibri"/>
              </a:rPr>
              <a:t>, ~8 constructs</a:t>
            </a:r>
          </a:p>
          <a:p>
            <a:pPr algn="l">
              <a:lnSpc>
                <a:spcPct val="104000"/>
              </a:lnSpc>
              <a:spcAft>
                <a:spcPts val="700"/>
              </a:spcAft>
            </a:pPr>
            <a:r>
              <a:rPr sz="1300" b="0" i="0">
                <a:solidFill>
                  <a:srgbClr val="1A1A1A"/>
                </a:solidFill>
                <a:latin typeface="Calibri"/>
              </a:rPr>
              <a:t>•  </a:t>
            </a:r>
            <a:r>
              <a:rPr sz="1300" b="1" i="0">
                <a:solidFill>
                  <a:srgbClr val="1A1A1A"/>
                </a:solidFill>
                <a:latin typeface="Calibri"/>
              </a:rPr>
              <a:t>real idiom headroom</a:t>
            </a:r>
            <a:r>
              <a:rPr sz="1300" b="0" i="0">
                <a:solidFill>
                  <a:srgbClr val="1A1A1A"/>
                </a:solidFill>
                <a:latin typeface="Calibri"/>
              </a:rPr>
              <a:t>: this is where DPO can move the model</a:t>
            </a:r>
          </a:p>
          <a:p>
            <a:pPr algn="l">
              <a:lnSpc>
                <a:spcPct val="104000"/>
              </a:lnSpc>
              <a:spcAft>
                <a:spcPts val="700"/>
              </a:spcAft>
            </a:pPr>
            <a:r>
              <a:rPr sz="1300" b="0" i="0">
                <a:solidFill>
                  <a:srgbClr val="1A1A1A"/>
                </a:solidFill>
                <a:latin typeface="Calibri"/>
              </a:rPr>
              <a:t>•  one dict argument keeps the same eval harness (13 holdout)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577840"/>
            <a:ext cx="11064240" cy="914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4000"/>
              </a:lnSpc>
              <a:spcAft>
                <a:spcPts val="600"/>
              </a:spcAft>
            </a:pPr>
            <a:r>
              <a:rPr sz="1300" b="0" i="0">
                <a:solidFill>
                  <a:srgbClr val="1A1A1A"/>
                </a:solidFill>
                <a:latin typeface="Calibri"/>
              </a:rPr>
              <a:t>The idiom axis only exists on graph tasks. On functions, "Python shaped" already is idiomatic, which is why DPO does nothing there and works here.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2600" b="1" i="0">
                <a:solidFill>
                  <a:srgbClr val="1A1A1A"/>
                </a:solidFill>
                <a:latin typeface="Calibri"/>
              </a:rPr>
              <a:t>Graphs and stats: behavioral test pass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4937760" cy="4114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4000"/>
              </a:lnSpc>
              <a:spcAft>
                <a:spcPts val="700"/>
              </a:spcAft>
            </a:pPr>
            <a:r>
              <a:rPr sz="1500" b="0" i="0">
                <a:solidFill>
                  <a:srgbClr val="1A1A1A"/>
                </a:solidFill>
                <a:latin typeface="Calibri"/>
              </a:rPr>
              <a:t>•  Base eval from </a:t>
            </a:r>
            <a:r>
              <a:rPr sz="1500" b="1" i="0">
                <a:solidFill>
                  <a:srgbClr val="1A1A1A"/>
                </a:solidFill>
                <a:latin typeface="Calibri"/>
              </a:rPr>
              <a:t>cold start</a:t>
            </a:r>
            <a:r>
              <a:rPr sz="1500" b="0" i="0">
                <a:solidFill>
                  <a:srgbClr val="1A1A1A"/>
                </a:solidFill>
                <a:latin typeface="Calibri"/>
              </a:rPr>
              <a:t> (quantized Q4/Q8, run normally).</a:t>
            </a:r>
          </a:p>
          <a:p>
            <a:pPr algn="l">
              <a:lnSpc>
                <a:spcPct val="104000"/>
              </a:lnSpc>
              <a:spcAft>
                <a:spcPts val="700"/>
              </a:spcAft>
            </a:pPr>
            <a:r>
              <a:rPr sz="1500" b="0" i="0">
                <a:solidFill>
                  <a:srgbClr val="1A1A1A"/>
                </a:solidFill>
                <a:latin typeface="Calibri"/>
              </a:rPr>
              <a:t>•  </a:t>
            </a:r>
            <a:r>
              <a:rPr sz="1500" b="1" i="0">
                <a:solidFill>
                  <a:srgbClr val="1A1A1A"/>
                </a:solidFill>
                <a:latin typeface="Calibri"/>
              </a:rPr>
              <a:t>Base is 0%</a:t>
            </a:r>
            <a:r>
              <a:rPr sz="1500" b="0" i="0">
                <a:solidFill>
                  <a:srgbClr val="1A1A1A"/>
                </a:solidFill>
                <a:latin typeface="Calibri"/>
              </a:rPr>
              <a:t>: neither model knew Jac before this.</a:t>
            </a:r>
          </a:p>
          <a:p>
            <a:pPr algn="l">
              <a:lnSpc>
                <a:spcPct val="104000"/>
              </a:lnSpc>
              <a:spcAft>
                <a:spcPts val="700"/>
              </a:spcAft>
            </a:pPr>
            <a:r>
              <a:rPr sz="1500" b="0" i="0">
                <a:solidFill>
                  <a:srgbClr val="1A1A1A"/>
                </a:solidFill>
                <a:latin typeface="Calibri"/>
              </a:rPr>
              <a:t>•  Functions: both reach </a:t>
            </a:r>
            <a:r>
              <a:rPr sz="1500" b="1" i="0">
                <a:solidFill>
                  <a:srgbClr val="1A1A1A"/>
                </a:solidFill>
                <a:latin typeface="Calibri"/>
              </a:rPr>
              <a:t>~94%</a:t>
            </a:r>
            <a:r>
              <a:rPr sz="1500" b="0" i="0">
                <a:solidFill>
                  <a:srgbClr val="1A1A1A"/>
                </a:solidFill>
                <a:latin typeface="Calibri"/>
              </a:rPr>
              <a:t>. SFT and DPO tie, outputs stay Python shaped, and DPO does not move them.</a:t>
            </a:r>
          </a:p>
          <a:p>
            <a:pPr algn="l">
              <a:lnSpc>
                <a:spcPct val="104000"/>
              </a:lnSpc>
              <a:spcAft>
                <a:spcPts val="700"/>
              </a:spcAft>
            </a:pPr>
            <a:r>
              <a:rPr sz="1500" b="0" i="0">
                <a:solidFill>
                  <a:srgbClr val="1A1A1A"/>
                </a:solidFill>
                <a:latin typeface="Calibri"/>
              </a:rPr>
              <a:t>•  Graph: </a:t>
            </a:r>
            <a:r>
              <a:rPr sz="1500" b="1" i="0">
                <a:solidFill>
                  <a:srgbClr val="1A1A1A"/>
                </a:solidFill>
                <a:latin typeface="Calibri"/>
              </a:rPr>
              <a:t>Qwen pulls ahead</a:t>
            </a:r>
            <a:r>
              <a:rPr sz="1500" b="0" i="0">
                <a:solidFill>
                  <a:srgbClr val="1A1A1A"/>
                </a:solidFill>
                <a:latin typeface="Calibri"/>
              </a:rPr>
              <a:t> (46/61%) while Gemma stalls (15%).</a:t>
            </a:r>
          </a:p>
        </p:txBody>
      </p:sp>
      <p:pic>
        <p:nvPicPr>
          <p:cNvPr id="4" name="Picture 3" descr="accuracy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1554480"/>
            <a:ext cx="6217920" cy="327258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2600" b="1" i="0">
                <a:solidFill>
                  <a:srgbClr val="1A1A1A"/>
                </a:solidFill>
                <a:latin typeface="Calibri"/>
              </a:rPr>
              <a:t>Graphs and stats, part 2: training curves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3383280" cy="4114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4000"/>
              </a:lnSpc>
              <a:spcAft>
                <a:spcPts val="1200"/>
              </a:spcAft>
            </a:pPr>
            <a:r>
              <a:rPr sz="1400" b="0" i="0">
                <a:solidFill>
                  <a:srgbClr val="1A1A1A"/>
                </a:solidFill>
                <a:latin typeface="Calibri"/>
              </a:rPr>
              <a:t>Validation loss, training loss, and the holdout learning curve are </a:t>
            </a:r>
            <a:r>
              <a:rPr sz="1400" b="1" i="0">
                <a:solidFill>
                  <a:srgbClr val="1A1A1A"/>
                </a:solidFill>
                <a:latin typeface="Calibri"/>
              </a:rPr>
              <a:t>nearly identical</a:t>
            </a:r>
            <a:r>
              <a:rPr sz="1400" b="0" i="0">
                <a:solidFill>
                  <a:srgbClr val="1A1A1A"/>
                </a:solidFill>
                <a:latin typeface="Calibri"/>
              </a:rPr>
              <a:t> for Qwen and Gemma. Same data, same config (LoRA r16, 600 iters, lr 2e-5).</a:t>
            </a:r>
          </a:p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1300" b="0" i="0">
                <a:solidFill>
                  <a:srgbClr val="737373"/>
                </a:solidFill>
                <a:latin typeface="Calibri"/>
              </a:rPr>
              <a:t>The separation is not in loss. It is in idiom on graph tasks, which is the next slide.</a:t>
            </a:r>
          </a:p>
        </p:txBody>
      </p:sp>
      <p:pic>
        <p:nvPicPr>
          <p:cNvPr id="4" name="Picture 3" descr="learning_curve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1280160"/>
            <a:ext cx="3749039" cy="2343149"/>
          </a:xfrm>
          <a:prstGeom prst="rect">
            <a:avLst/>
          </a:prstGeom>
        </p:spPr>
      </p:pic>
      <p:pic>
        <p:nvPicPr>
          <p:cNvPr id="5" name="Picture 4" descr="train_loss_compa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1280160"/>
            <a:ext cx="3749039" cy="2343149"/>
          </a:xfrm>
          <a:prstGeom prst="rect">
            <a:avLst/>
          </a:prstGeom>
        </p:spPr>
      </p:pic>
      <p:pic>
        <p:nvPicPr>
          <p:cNvPr id="6" name="Picture 5" descr="val_loss_compa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0" y="3931920"/>
            <a:ext cx="3749039" cy="234314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2600" b="1" i="0">
                <a:solidFill>
                  <a:srgbClr val="1A1A1A"/>
                </a:solidFill>
                <a:latin typeface="Calibri"/>
              </a:rPr>
              <a:t>Graph tier: where idiom has room to move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5669280" cy="43891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4000"/>
              </a:lnSpc>
              <a:spcAft>
                <a:spcPts val="700"/>
              </a:spcAft>
            </a:pPr>
            <a:r>
              <a:rPr sz="1400" b="0" i="0">
                <a:solidFill>
                  <a:srgbClr val="1A1A1A"/>
                </a:solidFill>
                <a:latin typeface="Calibri"/>
              </a:rPr>
              <a:t>•  On graph tasks idiomatic Jac diverges from Python, so the idiom axis is alive.</a:t>
            </a:r>
          </a:p>
          <a:p>
            <a:pPr algn="l">
              <a:lnSpc>
                <a:spcPct val="104000"/>
              </a:lnSpc>
              <a:spcAft>
                <a:spcPts val="700"/>
              </a:spcAft>
            </a:pPr>
            <a:r>
              <a:rPr sz="1400" b="0" i="0">
                <a:solidFill>
                  <a:srgbClr val="1A1A1A"/>
                </a:solidFill>
                <a:latin typeface="Calibri"/>
              </a:rPr>
              <a:t>•  </a:t>
            </a:r>
            <a:r>
              <a:rPr sz="1400" b="1" i="0">
                <a:solidFill>
                  <a:srgbClr val="1A1A1A"/>
                </a:solidFill>
                <a:latin typeface="Calibri"/>
              </a:rPr>
              <a:t>SFT</a:t>
            </a:r>
            <a:r>
              <a:rPr sz="1400" b="0" i="0">
                <a:solidFill>
                  <a:srgbClr val="1A1A1A"/>
                </a:solidFill>
                <a:latin typeface="Calibri"/>
              </a:rPr>
              <a:t> teaches the model to run. </a:t>
            </a:r>
            <a:r>
              <a:rPr sz="1400" b="1" i="0">
                <a:solidFill>
                  <a:srgbClr val="1A1A1A"/>
                </a:solidFill>
                <a:latin typeface="Calibri"/>
              </a:rPr>
              <a:t>DPO</a:t>
            </a:r>
            <a:r>
              <a:rPr sz="1400" b="0" i="0">
                <a:solidFill>
                  <a:srgbClr val="1A1A1A"/>
                </a:solidFill>
                <a:latin typeface="Calibri"/>
              </a:rPr>
              <a:t> pushes it the rest of the way to idiomatic.</a:t>
            </a:r>
          </a:p>
          <a:p>
            <a:pPr algn="l">
              <a:lnSpc>
                <a:spcPct val="104000"/>
              </a:lnSpc>
              <a:spcAft>
                <a:spcPts val="700"/>
              </a:spcAft>
            </a:pPr>
            <a:r>
              <a:rPr sz="1400" b="0" i="0">
                <a:solidFill>
                  <a:srgbClr val="1A1A1A"/>
                </a:solidFill>
                <a:latin typeface="Calibri"/>
              </a:rPr>
              <a:t>•  </a:t>
            </a:r>
            <a:r>
              <a:rPr sz="1400" b="1" i="0">
                <a:solidFill>
                  <a:srgbClr val="1A1A1A"/>
                </a:solidFill>
                <a:latin typeface="Calibri"/>
              </a:rPr>
              <a:t>Qwen</a:t>
            </a:r>
            <a:r>
              <a:rPr sz="1400" b="0" i="0">
                <a:solidFill>
                  <a:srgbClr val="1A1A1A"/>
                </a:solidFill>
                <a:latin typeface="Calibri"/>
              </a:rPr>
              <a:t>: SFT 46% → DPO </a:t>
            </a:r>
            <a:r>
              <a:rPr sz="1400" b="1" i="0">
                <a:solidFill>
                  <a:srgbClr val="1A1A1A"/>
                </a:solidFill>
                <a:latin typeface="Calibri"/>
              </a:rPr>
              <a:t>61%</a:t>
            </a:r>
            <a:r>
              <a:rPr sz="1400" b="0" i="0">
                <a:solidFill>
                  <a:srgbClr val="1A1A1A"/>
                </a:solidFill>
                <a:latin typeface="Calibri"/>
              </a:rPr>
              <a:t> correct; idiomatic share of correct 83% → </a:t>
            </a:r>
            <a:r>
              <a:rPr sz="1400" b="1" i="0">
                <a:solidFill>
                  <a:srgbClr val="1A1A1A"/>
                </a:solidFill>
                <a:latin typeface="Calibri"/>
              </a:rPr>
              <a:t>100%</a:t>
            </a:r>
            <a:r>
              <a:rPr sz="1400" b="0" i="0">
                <a:solidFill>
                  <a:srgbClr val="1A1A1A"/>
                </a:solidFill>
                <a:latin typeface="Calibri"/>
              </a:rPr>
              <a:t>; similarity 0.457 → </a:t>
            </a:r>
            <a:r>
              <a:rPr sz="1400" b="1" i="0">
                <a:solidFill>
                  <a:srgbClr val="1A1A1A"/>
                </a:solidFill>
                <a:latin typeface="Calibri"/>
              </a:rPr>
              <a:t>0.338</a:t>
            </a:r>
            <a:r>
              <a:rPr sz="1400" b="0" i="0">
                <a:solidFill>
                  <a:srgbClr val="1A1A1A"/>
                </a:solidFill>
                <a:latin typeface="Calibri"/>
              </a:rPr>
              <a:t> (ref 0.26).</a:t>
            </a:r>
          </a:p>
          <a:p>
            <a:pPr algn="l">
              <a:lnSpc>
                <a:spcPct val="104000"/>
              </a:lnSpc>
              <a:spcAft>
                <a:spcPts val="700"/>
              </a:spcAft>
            </a:pPr>
            <a:r>
              <a:rPr sz="1400" b="0" i="0">
                <a:solidFill>
                  <a:srgbClr val="1A1A1A"/>
                </a:solidFill>
                <a:latin typeface="Calibri"/>
              </a:rPr>
              <a:t>•  </a:t>
            </a:r>
            <a:r>
              <a:rPr sz="1400" b="1" i="0">
                <a:solidFill>
                  <a:srgbClr val="1A1A1A"/>
                </a:solidFill>
                <a:latin typeface="Calibri"/>
              </a:rPr>
              <a:t>Gemma</a:t>
            </a:r>
            <a:r>
              <a:rPr sz="1400" b="0" i="0">
                <a:solidFill>
                  <a:srgbClr val="1A1A1A"/>
                </a:solidFill>
                <a:latin typeface="Calibri"/>
              </a:rPr>
              <a:t>: graph SFT only 15% (~2/13, 0 constructs), so DPO has nothing to move. Idiom acquisition depends on the model.</a:t>
            </a:r>
          </a:p>
        </p:txBody>
      </p:sp>
      <p:pic>
        <p:nvPicPr>
          <p:cNvPr id="4" name="Picture 3" descr="graph_idiom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737360"/>
            <a:ext cx="5120640" cy="301214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2600" b="1" i="0">
                <a:solidFill>
                  <a:srgbClr val="1A1A1A"/>
                </a:solidFill>
                <a:latin typeface="Calibri"/>
              </a:rPr>
              <a:t>What we proved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3108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4000"/>
              </a:lnSpc>
              <a:spcAft>
                <a:spcPts val="800"/>
              </a:spcAft>
            </a:pPr>
            <a:r>
              <a:rPr sz="1800" b="0" i="0">
                <a:solidFill>
                  <a:srgbClr val="1A1A1A"/>
                </a:solidFill>
                <a:latin typeface="Calibri"/>
              </a:rPr>
              <a:t>1.  </a:t>
            </a:r>
            <a:r>
              <a:rPr sz="1800" b="1" i="0">
                <a:solidFill>
                  <a:srgbClr val="1A1A1A"/>
                </a:solidFill>
                <a:latin typeface="Calibri"/>
              </a:rPr>
              <a:t>Synthetic, compiler validated data teaches correct Jac.</a:t>
            </a:r>
            <a:r>
              <a:rPr sz="1800" b="0" i="0">
                <a:solidFill>
                  <a:srgbClr val="1A1A1A"/>
                </a:solidFill>
                <a:latin typeface="Calibri"/>
              </a:rPr>
              <a:t>  0% → </a:t>
            </a:r>
            <a:r>
              <a:rPr sz="1800" b="1" i="0">
                <a:solidFill>
                  <a:srgbClr val="1A1A1A"/>
                </a:solidFill>
                <a:latin typeface="Calibri"/>
              </a:rPr>
              <a:t>94%</a:t>
            </a:r>
            <a:r>
              <a:rPr sz="1800" b="0" i="0">
                <a:solidFill>
                  <a:srgbClr val="1A1A1A"/>
                </a:solidFill>
                <a:latin typeface="Calibri"/>
              </a:rPr>
              <a:t> behavioral test pass on a decontaminated holdout.</a:t>
            </a:r>
          </a:p>
          <a:p>
            <a:pPr algn="l">
              <a:lnSpc>
                <a:spcPct val="104000"/>
              </a:lnSpc>
              <a:spcAft>
                <a:spcPts val="800"/>
              </a:spcAft>
            </a:pPr>
            <a:r>
              <a:rPr sz="1800" b="0" i="0">
                <a:solidFill>
                  <a:srgbClr val="1A1A1A"/>
                </a:solidFill>
                <a:latin typeface="Calibri"/>
              </a:rPr>
              <a:t>2.  </a:t>
            </a:r>
            <a:r>
              <a:rPr sz="1800" b="1" i="0">
                <a:solidFill>
                  <a:srgbClr val="1A1A1A"/>
                </a:solidFill>
                <a:latin typeface="Calibri"/>
              </a:rPr>
              <a:t>Idiom headroom plus DPO teaches idiomatic Jac.</a:t>
            </a:r>
            <a:r>
              <a:rPr sz="1800" b="0" i="0">
                <a:solidFill>
                  <a:srgbClr val="1A1A1A"/>
                </a:solidFill>
                <a:latin typeface="Calibri"/>
              </a:rPr>
              <a:t>  On graph tasks Qwen3 Coder reaches </a:t>
            </a:r>
            <a:r>
              <a:rPr sz="1800" b="1" i="0">
                <a:solidFill>
                  <a:srgbClr val="1A1A1A"/>
                </a:solidFill>
                <a:latin typeface="Calibri"/>
              </a:rPr>
              <a:t>100%</a:t>
            </a:r>
            <a:r>
              <a:rPr sz="1800" b="0" i="0">
                <a:solidFill>
                  <a:srgbClr val="1A1A1A"/>
                </a:solidFill>
                <a:latin typeface="Calibri"/>
              </a:rPr>
              <a:t> idiomatic of correct outputs, up from 83% at SFT.</a:t>
            </a:r>
          </a:p>
          <a:p>
            <a:pPr algn="l">
              <a:lnSpc>
                <a:spcPct val="104000"/>
              </a:lnSpc>
              <a:spcAft>
                <a:spcPts val="800"/>
              </a:spcAft>
            </a:pPr>
            <a:r>
              <a:rPr sz="1800" b="0" i="0">
                <a:solidFill>
                  <a:srgbClr val="1A1A1A"/>
                </a:solidFill>
                <a:latin typeface="Calibri"/>
              </a:rPr>
              <a:t>3.  </a:t>
            </a:r>
            <a:r>
              <a:rPr sz="1800" b="1" i="0">
                <a:solidFill>
                  <a:srgbClr val="1A1A1A"/>
                </a:solidFill>
                <a:latin typeface="Calibri"/>
              </a:rPr>
              <a:t>The result is a basic Jac coding agent.</a:t>
            </a:r>
            <a:r>
              <a:rPr sz="1800" b="0" i="0">
                <a:solidFill>
                  <a:srgbClr val="1A1A1A"/>
                </a:solidFill>
                <a:latin typeface="Calibri"/>
              </a:rPr>
              <a:t>  Roughly what Claude Code is, but for Jac instead of Python.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120640"/>
            <a:ext cx="1106424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400" b="0" i="0">
                <a:solidFill>
                  <a:srgbClr val="737373"/>
                </a:solidFill>
                <a:latin typeface="Calibri"/>
              </a:rPr>
              <a:t>100% synthetic data   •   a free compiler oracle   •   two MoE models that fit in 48 GB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2600" b="1" i="0">
                <a:solidFill>
                  <a:srgbClr val="1A1A1A"/>
                </a:solidFill>
                <a:latin typeface="Calibri"/>
              </a:rPr>
              <a:t>Next 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6949440" cy="17373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4000"/>
              </a:lnSpc>
              <a:spcAft>
                <a:spcPts val="700"/>
              </a:spcAft>
            </a:pPr>
            <a:r>
              <a:rPr sz="1500" b="0" i="0">
                <a:solidFill>
                  <a:srgbClr val="1A1A1A"/>
                </a:solidFill>
                <a:latin typeface="Calibri"/>
              </a:rPr>
              <a:t>•  Mine a single codebase into an </a:t>
            </a:r>
            <a:r>
              <a:rPr sz="1500" b="1" i="0">
                <a:solidFill>
                  <a:srgbClr val="1A1A1A"/>
                </a:solidFill>
                <a:latin typeface="Calibri"/>
              </a:rPr>
              <a:t>RL loop</a:t>
            </a:r>
            <a:r>
              <a:rPr sz="1500" b="0" i="0">
                <a:solidFill>
                  <a:srgbClr val="1A1A1A"/>
                </a:solidFill>
                <a:latin typeface="Calibri"/>
              </a:rPr>
              <a:t>: how far is the resulting codebase from what you asked for?</a:t>
            </a:r>
          </a:p>
          <a:p>
            <a:pPr algn="l">
              <a:lnSpc>
                <a:spcPct val="104000"/>
              </a:lnSpc>
              <a:spcAft>
                <a:spcPts val="700"/>
              </a:spcAft>
            </a:pPr>
            <a:r>
              <a:rPr sz="1500" b="0" i="0">
                <a:solidFill>
                  <a:srgbClr val="1A1A1A"/>
                </a:solidFill>
                <a:latin typeface="Calibri"/>
              </a:rPr>
              <a:t>•  Is it unreasonable to train a model on </a:t>
            </a:r>
            <a:r>
              <a:rPr sz="1500" b="0" i="1">
                <a:solidFill>
                  <a:srgbClr val="1A1A1A"/>
                </a:solidFill>
                <a:latin typeface="Calibri"/>
              </a:rPr>
              <a:t>one</a:t>
            </a:r>
            <a:r>
              <a:rPr sz="1500" b="0" i="0">
                <a:solidFill>
                  <a:srgbClr val="1A1A1A"/>
                </a:solidFill>
                <a:latin typeface="Calibri"/>
              </a:rPr>
              <a:t> codebase?</a:t>
            </a:r>
          </a:p>
          <a:p>
            <a:pPr algn="l">
              <a:lnSpc>
                <a:spcPct val="104000"/>
              </a:lnSpc>
              <a:spcAft>
                <a:spcPts val="700"/>
              </a:spcAft>
            </a:pPr>
            <a:r>
              <a:rPr sz="1500" b="0" i="0">
                <a:solidFill>
                  <a:srgbClr val="1A1A1A"/>
                </a:solidFill>
                <a:latin typeface="Calibri"/>
              </a:rPr>
              <a:t>•  What </a:t>
            </a:r>
            <a:r>
              <a:rPr sz="1500" b="1" i="0">
                <a:solidFill>
                  <a:srgbClr val="1A1A1A"/>
                </a:solidFill>
                <a:latin typeface="Calibri"/>
              </a:rPr>
              <a:t>eval</a:t>
            </a:r>
            <a:r>
              <a:rPr sz="1500" b="0" i="0">
                <a:solidFill>
                  <a:srgbClr val="1A1A1A"/>
                </a:solidFill>
                <a:latin typeface="Calibri"/>
              </a:rPr>
              <a:t> fits that setting?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097280"/>
            <a:ext cx="3840480" cy="1828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1250" b="1" i="0">
                <a:solidFill>
                  <a:srgbClr val="1A1A1A"/>
                </a:solidFill>
                <a:latin typeface="Calibri"/>
              </a:rPr>
              <a:t>Shipped since:</a:t>
            </a:r>
            <a:r>
              <a:rPr sz="1250" b="0" i="0">
                <a:solidFill>
                  <a:srgbClr val="1A1A1A"/>
                </a:solidFill>
                <a:latin typeface="Calibri"/>
              </a:rPr>
              <a:t> a live </a:t>
            </a:r>
            <a:r>
              <a:rPr sz="1250" b="1" i="0">
                <a:solidFill>
                  <a:srgbClr val="1A1A1A"/>
                </a:solidFill>
                <a:latin typeface="Calibri"/>
              </a:rPr>
              <a:t>training dashboard</a:t>
            </a:r>
            <a:r>
              <a:rPr sz="1250" b="0" i="0">
                <a:solidFill>
                  <a:srgbClr val="1A1A1A"/>
                </a:solidFill>
                <a:latin typeface="Calibri"/>
              </a:rPr>
              <a:t> (Monitor, Train, Ingest) that streams SFT and DPO runs in real time. It is the item that was "next" last time.</a:t>
            </a:r>
          </a:p>
        </p:txBody>
      </p:sp>
      <p:pic>
        <p:nvPicPr>
          <p:cNvPr id="5" name="Picture 4" descr="dashboard_w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5367" y="2743200"/>
            <a:ext cx="7680960" cy="35661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737373"/>
                </a:solidFill>
                <a:latin typeface="Calibri"/>
              </a:rPr>
              <a:t>live Monitor: run picker, idiom cards, train and val loss, learning curve, tok/s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